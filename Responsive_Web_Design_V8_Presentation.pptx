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229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JSS ACADEMY OF TECHNICAL EDUCATION, NOIDA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200" kern="0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OF INFORMATION 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CERTIFICATION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Legacy Responsive Web Design V8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9718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freeCodeCamp Developer Certification  •  Comprehensive Technical &amp; Academic Report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3749040"/>
            <a:ext cx="10332720" cy="2103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3886200"/>
            <a:ext cx="9784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Submitted by:
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ANURAG KUMAR
</a:t>
            </a:r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Bachelor of Technology — Information Technology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JSS Academy of Technical Education, Noida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Certification Completion Date: 14 October 2026   |   Curriculum Work: ~300 Hours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Submitted in partial fulfilment of academic documentation requirements.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JSS Academy of Technical Education, Noida  |  Dept. of IT  |  Anurag Kumar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 of 18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 PROFILE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Certification Credentials &amp; Verification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07008"/>
            <a:ext cx="1645920" cy="36576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621792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Credential Record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2057400"/>
          <a:ext cx="5669280" cy="3749040"/>
        </p:xfrm>
        <a:graphic>
          <a:graphicData uri="http://schemas.openxmlformats.org/drawingml/2006/table">
            <a:tbl>
              <a:tblPr/>
              <a:tblGrid>
                <a:gridCol w="1828800"/>
                <a:gridCol w="3840480"/>
              </a:tblGrid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Field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Credential Record Details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54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Learner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Anurag Kumar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Certification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F5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Legacy Responsive Web Design V8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Issuing Body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freeCodeCamp.org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Completion Date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 October 2026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 Represented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Approximately 300 Hours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Authorized Signatory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Quincy Larson, Executive Director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8FA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Verification Code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0A5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fcc-97775e43-3a55-46e0-aa41-90a285370607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15200" y="1463040"/>
            <a:ext cx="4114800" cy="14173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300 Hours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43800" y="19659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Extensive coursework covering HTML5, CSS3, modern layout architectures &amp; accessibility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315200" y="3063240"/>
            <a:ext cx="4114800" cy="14173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4380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Core Projects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543800" y="35661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full production-grade capstone web applications passing 100% of automated tests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315200" y="4663440"/>
            <a:ext cx="4114800" cy="14173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43800" y="4800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Online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543800" y="51663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Publicly verifiable through freeCodeCamp.org encrypted credential database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JSS Academy of Technical Education, Noida  |  Dept. of IT  |  Anurag Kumar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 of 18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&amp; Core Web Design Philosophy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07008"/>
            <a:ext cx="1645920" cy="36576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10698480" cy="1143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8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Philosophy: "Responsive design is not simply shrinking a desktop layout onto a mobile phone. Instead, a responsive interface adapts content, spacing, navigation, and layout to the available viewport while preserving readability and effortless interaction."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5212080" cy="15087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0175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Semantic Foundation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3375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HTML5 semantic elements (&lt;header&gt;, &lt;nav&gt;, &lt;main&gt;, &lt;article&gt;, &lt;footer&gt;) to provide machine-readable structure for browsers and assistive technologies.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0" y="2834640"/>
            <a:ext cx="5212080" cy="15087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30175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Modern Layout Engines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33375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Moving past brittle float/table layouts to CSS Flexbox (1D) and CSS Grid (2D) layout systems with fluid auto-fit calculations.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4526280"/>
            <a:ext cx="5212080" cy="15087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7091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Mobile-First Mindset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50292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Establishing lean mobile baselines first, then progressively enhancing the experience for larger viewports using min-width media queries.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4526280"/>
            <a:ext cx="5212080" cy="15087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7091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Universal Accessibility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50292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Rigorous compliance with WCAG 2.2 AA standards: keyboard navigable controls, high contrast ratios, and screen-reader accessibility.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JSS Academy of Technical Education, Noida  |  Dept. of IT  |  Anurag Kumar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 of 18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1: The Multi-Device Reality &amp; Motivation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07008"/>
            <a:ext cx="1645920" cy="36576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with Fixed-Width Design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Device Fragmentation: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access websites from 320px smartphones, 768px tablets, 1440px laptops, and 4K desktop screens.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Horizontal Scrolling: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 pixel widths (e.g. 1200px) force mobile users to pan horizontally, creating a broken experience.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Illegible Typography: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Non-scalable text becomes unreadable without painful manual pinch-to-zoom.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Touch Frustration: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Tiny, closely-packed links designed for mouse cursors are nearly impossible to tap accurately on touchscreens.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Certification Objectives &amp; Motivation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10312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Universal Viewport Adaptation: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 identical information availability and aesthetic balance regardless of screen dimensions.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Semantic &amp; Accessible Markup: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Construct clean document outlines that support screen readers, search engines, and keyboard navigation.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Modern Layout Mastery: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Harness CSS Flexbox and Grid to build dynamic, content-driven layouts that self-adjust without breaking.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Repeatable Engineering Workflow: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Establish an empirical 5-stage pipeline: Planning -&gt; Semantic HTML -&gt; Mobile CSS -&gt; Breakpoints -&gt; Auditing.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JSS Academy of Technical Education, Noida  |  Dept. of IT  |  Anurag Kumar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 of 18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Methodology &amp; Developer Tooling Ecosystem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07008"/>
            <a:ext cx="1645920" cy="36576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256032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Theoretical Study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Standards &amp; Specs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2194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Studied official W3C, WHATWG HTML Living Standard, and MDN Web Docs to understand element behaviors and styling cascade rules.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9000" y="1463040"/>
            <a:ext cx="256032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6916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Sandbox Coding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0" y="1965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 Environment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2560320"/>
            <a:ext cx="2194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Employed Visual Studio Code with Emmet abbreviations, Prettier code formatter, and local live development server for rapid iteration.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56032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6916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Browser Inspection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09360" y="1965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Chromium DevTools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560320"/>
            <a:ext cx="2194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Inspected DOM nodes, monitored the CSS Box Model visualizer, debugged computed styles, and simulated responsive devices.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823960" y="1463040"/>
            <a:ext cx="256032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16916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Capstone Testing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06840" y="1965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 Suites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06840" y="2560320"/>
            <a:ext cx="2194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Engineered 5 full projects tested against freeCodeCamp automated CDN test runner to ensure 100% user story validation.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JSS Academy of Technical Education, Noida  |  Dept. of IT  |  Anurag Kumar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 of 18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HTML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2: Semantic HTML5 &amp; Document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07008"/>
            <a:ext cx="1645920" cy="36576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HTML vs. Generic Containers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Non-Semantic Anti-Pattern: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class="header"&gt;
  &lt;div class="nav-links"&gt;...&lt;/div&gt;
&lt;/div&gt;
&lt;div class="main-body"&gt;
  &lt;div class="article-post"&gt;...&lt;/div&gt;
&lt;/div&gt;
</a:t>
            </a:r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Semantic Architecture:
</a:t>
            </a:r>
            <a:pPr indent="0" marL="0">
              <a:buNone/>
            </a:pPr>
            <a:r>
              <a:rPr lang="en-US" sz="90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&lt;nav aria-label="Main Navigation"&gt;...&lt;/nav&gt;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&lt;article&gt;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&lt;h1&gt;Article Title&lt;/h1&gt;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&lt;section&gt;...&lt;/section&gt;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&lt;/article&gt;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&lt;aside&gt;Related Info&lt;/aside&gt;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&lt;/main&gt;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&lt;footer&gt;...&lt;/footer&gt;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Principles &amp; Document Head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10312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 Indispensable Viewport Meta Tag: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&lt;meta name="viewport" content="width=device-width, initial-scale=1.0"&gt;
Prevents mobile browsers from assuming a 980px desktop width and downscaling.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Strict Heading Hierarchy: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&lt;h1&gt; per page for the document title, followed by logically nested &lt;h2&gt;, &lt;h3&gt;. Headings reflect content hierarchy, not desired visual font-size.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Button vs. Link Distinction: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&lt;button&gt; for page actions, modals, and submissions. Use &lt;a href="..."&gt; strictly for navigating to a new URL destination.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Informative Media: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&lt;img&gt; must have an alt attribute: informative descriptions for content, empty alt="" for decorative images.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JSS Academy of Technical Education, Noida  |  Dept. of IT  |  Anurag Kumar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 of 18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BOX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CSS Box Model &amp; Universal Sizing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07008"/>
            <a:ext cx="1645920" cy="36576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Anatomy of the CSS Box Model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2194560"/>
            <a:ext cx="4663440" cy="777240"/>
          </a:xfrm>
          <a:prstGeom prst="rect">
            <a:avLst/>
          </a:prstGeom>
          <a:solidFill>
            <a:srgbClr val="24325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2402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MARGIN (Outer Layer)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143000" y="24871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Transparent exterior space separating the element from adjacent sibling elements.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05840" y="3108960"/>
            <a:ext cx="4663440" cy="777240"/>
          </a:xfrm>
          <a:prstGeom prst="rect">
            <a:avLst/>
          </a:prstGeom>
          <a:solidFill>
            <a:srgbClr val="24325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1546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BORDER (Perimeter)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43000" y="3401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Structural boundary surrounding the padding. Can have width, style, and color.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5840" y="4023360"/>
            <a:ext cx="4663440" cy="777240"/>
          </a:xfrm>
          <a:prstGeom prst="rect">
            <a:avLst/>
          </a:prstGeom>
          <a:solidFill>
            <a:srgbClr val="243254"/>
          </a:solidFill>
          <a:ln w="19050">
            <a:solidFill>
              <a:srgbClr val="3A8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0690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8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PADDING (Internal Spacing)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43000" y="43159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breathing room between the content area and the outer border.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05840" y="4937760"/>
            <a:ext cx="4663440" cy="777240"/>
          </a:xfrm>
          <a:prstGeom prst="rect">
            <a:avLst/>
          </a:prstGeom>
          <a:solidFill>
            <a:srgbClr val="243254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983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(Core Area)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43000" y="52303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actual payload: text, imagery, video, or nested child elements.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"Border-Box" Revolution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210312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 Legacy Problem: content-box (Default)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width: 300px + padding: 20px + border: 2px
=&gt; Total Rendered Width = 344px!
This leads to layout wrapping and unintended horizontal scrollbars.
</a:t>
            </a:r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Modern Universal Reset: border-box
</a:t>
            </a:r>
            <a:pPr indent="0" marL="0">
              <a:buNone/>
            </a:pPr>
            <a:r>
              <a:rPr lang="en-US" sz="90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*, *::before, *::after {
  box-sizing: border-box;
}
With border-box, declared width = 300px includes padding &amp; border. Sizing becomes predictable, intuitive, and mathematically sound.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Consistent Spacing Scale Tokens: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systematic spacing increments (4px, 8px, 16px, 24px, 32px, 48px) to establish harmonious rhythm throughout the interface.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JSS Academy of Technical Education, Noida  |  Dept. of IT  |  Anurag Kumar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 of 18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STYLING LOGIC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CSS Cascade Engine &amp; Fluid Typography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07008"/>
            <a:ext cx="1645920" cy="36576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Cascade Resolution &amp; Specificity Weights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2148840"/>
            <a:ext cx="4663440" cy="777240"/>
          </a:xfrm>
          <a:prstGeom prst="rect">
            <a:avLst/>
          </a:prstGeom>
          <a:solidFill>
            <a:srgbClr val="24325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21284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Inline Styles — Weight: (1, 0, 0, 0)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143000" y="24688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style="color: red;" (Highest precedence)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05840" y="3063240"/>
            <a:ext cx="4663440" cy="777240"/>
          </a:xfrm>
          <a:prstGeom prst="rect">
            <a:avLst/>
          </a:prstGeom>
          <a:solidFill>
            <a:srgbClr val="24325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12724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ID Selectors — Weight: (0, 1, 0, 0)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43000" y="33832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#main-nav, #hero-banner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05840" y="3977640"/>
            <a:ext cx="4663440" cy="777240"/>
          </a:xfrm>
          <a:prstGeom prst="rect">
            <a:avLst/>
          </a:prstGeom>
          <a:solidFill>
            <a:srgbClr val="24325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04164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Class, Attribute, Pseudo — Weight: (0, 0, 1, 0)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43000" y="42976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.card, [type="text"], :hover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05840" y="4892040"/>
            <a:ext cx="4663440" cy="777240"/>
          </a:xfrm>
          <a:prstGeom prst="rect">
            <a:avLst/>
          </a:prstGeom>
          <a:solidFill>
            <a:srgbClr val="24325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95604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Element &amp; Pseudo-element — Weight: (0, 0, 0, 1)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43000" y="52120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h1, p, nav, ::before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Fluid Typography &amp; Relative Units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210312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Relative Units: rem vs. em: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 (Root EM) scales based on the user's root font size (usually 16px). Respects user browser preferences. em scales relative to parent font size.
</a:t>
            </a:r>
            <a:pPr indent="0" marL="0">
              <a:buNone/>
            </a:pPr>
            <a:r>
              <a:rPr lang="en-US" sz="95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Modern Fluid Typography with clamp():
</a:t>
            </a:r>
            <a:pPr indent="0" marL="0">
              <a:buNone/>
            </a:pPr>
            <a:r>
              <a:rPr lang="en-US" sz="90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font-size: clamp(1.25rem, 2.5vw, 2.75rem);
Eliminates clunky jumpy media queries by continuously calculating font size between minimum and maximum bounds.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Optimal Legibility Metrics: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 length: 45 to 75 characters per line (max-width: 65ch).
Line height: 1.5 to 1.6 for comfortable body reading.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WCAG 2.2 Contrast: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Minimum 4.5:1 contrast ratio for normal text; 3:1 for large text.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JSS Academy of Technical Education, Noida  |  Dept. of IT  |  Anurag Kumar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 of 18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LOGIC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3: Mobile-First Strategy &amp; Flexible Media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07008"/>
            <a:ext cx="1645920" cy="36576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Mobile-First Architecture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Designing for Narrow Constraints First: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with base CSS for small screens. Focus on the core content, linear single-column layout, and clear typography.
</a:t>
            </a:r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Progressive Enhancement with min-width:
</a:t>
            </a:r>
            <a:pPr indent="0" marL="0">
              <a:buNone/>
            </a:pPr>
            <a:r>
              <a:rPr lang="en-US" sz="85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Base styles (Mobile) */
.grid { display: block; }
/* Tablet Enhancement */
@media (min-width: 768px) {
  .grid { display: grid; grid-template-columns: 1fr 1fr; }
}
/* Desktop Enhancement */
@media (min-width: 1024px) {
  .grid { grid-template-columns: repeat(4, 1fr); }
}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Key Advantage: Eliminates bloated CSS where mobile rules try to override complex desktop layouts.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Flexible Images &amp; Media Handling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10312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 Golden Rule of Responsive Images:
</a:t>
            </a:r>
            <a:pPr indent="0" marL="0">
              <a:buNone/>
            </a:pPr>
            <a:r>
              <a:rPr lang="en-US" sz="90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img, video, canvas, svg {
  max-width: 100%;
  height: auto;
  display: block;
}
Allows visual media to scale down fluidly with its parent container while maintaining its natural aspect ratio.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Aspect Ratio &amp; object-fit: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object-fit: cover ensures images fill thumbnail card containers without distortion or stretching.
aspect-ratio: 16 / 9 reserves layout space before media loads, preventing Cumulative Layout Shift (CLS).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High-DPI Displays: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Utilizing &lt;picture&gt; and srcset for serving optimized image resolutions according to device pixel ratio.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JSS Academy of Technical Education, Noida  |  Dept. of IT  |  Anurag Kumar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 of 18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FLEXBOX ENGINE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Layout Systems: CSS Flexbox (1-Dimensional)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07008"/>
            <a:ext cx="1645920" cy="36576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10698480" cy="7315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Flexbox is an axis-based layout system engineered for arranging items along a single dimension (either a row or a column). It excels at space distribution, component alignment, and dynamic wrapping.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2560320" cy="37490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60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 Axis Alignment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flex-start | center | space-between | space-evenly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384048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Controls how items are spaced horizontally (in row mode) or vertically (in column mode).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29000" y="2377440"/>
            <a:ext cx="2560320" cy="37490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2560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 Axis Alignment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11880" y="2971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11880" y="3291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stretch | center | flex-start | flex-end | baseline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11880" y="384048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Aligns items perpendicular to the main axis. Solves perfect vertical centering effortlessly.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2377440"/>
            <a:ext cx="2560320" cy="37490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560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Wrapping &amp; Gaps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2971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flex-wrap: wrap;  gap: 1rem;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09360" y="3291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Prevents overflow on narrow screens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09360" y="384048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Allows child elements to drop naturally into subsequent rows without explicit media queries.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823960" y="2377440"/>
            <a:ext cx="2560320" cy="37490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06840" y="2560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 Flex Sizing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06840" y="2971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flex: 1 1 250px;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006840" y="3291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flex-grow | flex-shrink | flex-basis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006840" y="384048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Dictates whether an item expands to fill free space, shrinks under pressure, or starts at a base width.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JSS Academy of Technical Education, Noida  |  Dept. of IT  |  Anurag Kumar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 of 18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GRID ENGINE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Layout Systems: CSS Grid (2-Dimensional)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07008"/>
            <a:ext cx="1645920" cy="36576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Grid: 2D Spatial Control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 Holy Grail of Responsive Cards:
</a:t>
            </a:r>
            <a:pPr indent="0" marL="0">
              <a:buNone/>
            </a:pPr>
            <a:r>
              <a:rPr lang="en-US" sz="90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.card-container {
  display: grid;
  grid-template-columns:
    repeat(auto-fit, minmax(280px, 1fr));
  gap: 1.5rem;
}
</a:t>
            </a:r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 this line of CSS is revolutionary: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auto-fit: Fits as many columns as will physically fit in the available width.</a:t>
            </a:r>
            <a:endParaRPr lang="en-US" sz="90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minmax(280px, 1fr): Cards will NEVER shrink below 280px, but will expand equally (1fr) to fill leftover whitespace.</a:t>
            </a:r>
            <a:endParaRPr lang="en-US" sz="90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Zero Media Queries: Automatically transitions from 1 column on mobile to 2, 3, or 4 columns on desktop!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Flexbox vs. Grid: Architecture Decision Matrix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103120"/>
          <a:ext cx="4663440" cy="2194560"/>
        </p:xfrm>
        <a:graphic>
          <a:graphicData uri="http://schemas.openxmlformats.org/drawingml/2006/table">
            <a:tbl>
              <a:tblPr/>
              <a:tblGrid>
                <a:gridCol w="1097280"/>
                <a:gridCol w="1783080"/>
                <a:gridCol w="17830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Feature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F5D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CSS Flexbox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0A5F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CSS Grid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5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Dimensions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1-Dimensional (Row OR Col)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2-Dimensional (Rows &amp; Cols)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Focus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Content-driven flow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Layout-driven structure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Overlap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Difficult without absolute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Native via grid areas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Best For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Navbars, buttons, media items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Page shells, photo grids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492240" y="44805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Best Practice: Use CSS Grid to define the overarching page skeleton and gallery structures, and use CSS Flexbox inside individual cards and headers to align icons, text, and actions.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JSS Academy of Technical Education, Noida  |  Dept. of IT  |  Anurag Kumar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 of 18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4: Web Accessibility (a11y) &amp; WCAG 2.2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07008"/>
            <a:ext cx="1645920" cy="36576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256032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Perceivable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2194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must be presentable in ways users can perceive. High contrast text (&gt;=4.5:1), text alternatives (alt="") for visual graphics, and clear visual boundaries.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9000" y="1463040"/>
            <a:ext cx="256032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691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1188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2697480"/>
            <a:ext cx="2194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interactive controls must be operable via keyboard (Tab, Shift+Tab, Enter, Space). Visible :focus-visible outlines are strictly mandatory. No keyboard traps.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56032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691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0936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697480"/>
            <a:ext cx="2194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 behavior must be predictable. Clear error identification on forms, logical reading sequence, and avoiding abrupt layout jumps during interaction.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823960" y="1463040"/>
            <a:ext cx="256032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1691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00684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Robust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06840" y="2697480"/>
            <a:ext cx="2194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must be robust enough to be interpreted by a wide range of user agents, assistive technologies (screen readers like NVDA/VoiceOver), and evolving browser engines.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JSS Academy of Technical Education, Noida  |  Dept. of IT  |  Anurag Kumar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 of 18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FORMS &amp; TOUCH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Accessible Input Controls &amp; Touch Ergonomics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07008"/>
            <a:ext cx="1645920" cy="36576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Accessible Form Engineering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Programmatic Label Association:
</a:t>
            </a:r>
            <a:pPr indent="0" marL="0">
              <a:buNone/>
            </a:pPr>
            <a:r>
              <a:rPr lang="en-US" sz="90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 for="user-email"&gt;Email Address&lt;/label&gt;
&lt;input type="email" id="user-email" required&gt;
Every form field must have an explicit label so screen readers announce field intent immediately.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Mobile Virtual Keyboard Optimization: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input types (email, tel, number) triggers device-specific soft keyboards, eliminating user data-entry friction.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Accessible Error Feedback: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rely on color alone to indicate invalid fields. Use clear text prompts coupled with aria-describedby for assistive readers.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Touch Ergonomics &amp; Responsive Zoom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10312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Minimum 44x44px Touch Targets: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tap targets must be at least 44x44 CSS pixels with adequate padding between clickable elements to prevent accidental miss-clicks.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200% Zoom Tolerance: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WCAG guidelines, a page must scale to 200% zoom without triggering horizontal scrollbars or clipping text.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Motion Sensitivity (Vestibular Disorders):
</a:t>
            </a:r>
            <a:pPr indent="0" marL="0">
              <a:buNone/>
            </a:pPr>
            <a:r>
              <a:rPr lang="en-US" sz="85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(prefers-reduced-motion: reduce) {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* {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animation-duration: 0.01ms !important;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transition-duration: 0.01ms !important;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00F5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Respects user OS preferences by disabling jarring motion.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JSS Academy of Technical Education, Noida  |  Dept. of IT  |  Anurag Kumar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 of 18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PIPELINE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 Workflow &amp; Cross-Viewport Testing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07008"/>
            <a:ext cx="1645920" cy="36576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205740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&amp; Architecture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1691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core message, wireframe content hierarchy, and plan mobile-first reading order.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80360" y="1463040"/>
            <a:ext cx="205740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6916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063240" y="219456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Markup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63240" y="2880360"/>
            <a:ext cx="1691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clean, valid HTML5 with proper tags, accessible labels, and heading structure.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0" y="1463040"/>
            <a:ext cx="205740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16916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12080" y="219456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Mobile CSS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2880360"/>
            <a:ext cx="1691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global box-sizing: border-box reset, color tokens, and fluid single-column styles.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78040" y="1463040"/>
            <a:ext cx="205740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16916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360920" y="219456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Breakpoints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60920" y="2880360"/>
            <a:ext cx="1691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Introduce min-width media queries, Flexbox alignments, and CSS Grid auto-fit tracks.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326880" y="1463040"/>
            <a:ext cx="205740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0" y="16916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509760" y="219456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 &amp; Audit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09760" y="2880360"/>
            <a:ext cx="1691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 multi-device emulation (320px to 4K), 200% zoom check, and Lighthouse audits.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JSS Academy of Technical Education, Noida  |  Dept. of IT  |  Anurag Kumar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 of 18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PRACTICAL PROJECTS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5: Capstone Projects Built &amp; Verified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07008"/>
            <a:ext cx="1645920" cy="36576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10698480" cy="84124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361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Responsive Survey 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HTML5 Form Controls, CSS Flexbox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663440" y="1536192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Engineered a multi-input interactive survey with custom styled radios/checkboxes, input validation, and single-column mobile wrapping.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395728"/>
            <a:ext cx="10698480" cy="84124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468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Tribute Page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76148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Fluid Media, Semantic Storytelling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63440" y="2468880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Biographical tribute featuring an responsive fluid hero image, timeline card grid, and centered typography with optimal reading measure.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3328416"/>
            <a:ext cx="10698480" cy="84124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4015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Product Landing Page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69417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 Navbar, Video Embed, CSS Grid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663440" y="3401568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landing page with sticky responsive navigation drawer, embedded media, and 3-tier responsive pricing cards.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4261104"/>
            <a:ext cx="10698480" cy="84124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3342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Technical Documentation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462686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 Sidebar, Scrollspy, Code Blocks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63440" y="4334256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 doc page with desktop sticky sidebar navigation, mobile collapsible menu, formatted syntax blocks, and smooth intra-page links.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5193792"/>
            <a:ext cx="10698480" cy="84124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2669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Personal Portfolio Page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555955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Responsive Web Presence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63440" y="5266944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portfolio showcasing project grid with hover micro-interactions, responsive contact form, and accessible social links.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JSS Academy of Technical Education, Noida  |  Dept. of IT  |  Anurag Kumar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 of 18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Outcomes &amp; Problem-Solving Lessons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07008"/>
            <a:ext cx="1645920" cy="36576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Engineering Competencies Mastered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Device-Agnostic Mindset: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Developed an instinct for fluid layouts that adapt organically to content constraints rather than arbitrary device dimensions.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Semantic &amp; Structural Rigor: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Ability to construct clean, accessible HTML structures that render reliably across diverse browsers and screen readers.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Modern Layout Fluency: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fluency in CSS Grid and Flexbox layout calculations, eliminating archaic float hacks and fragile absolute positioning.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Empirical Quality Assurance: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Established habits of proactive browser debugging, viewport testing, and accessibility auditing before shipping code.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Challenges &amp; Engineering Solutions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10312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Challenge 1: CSS Specificity Wars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Solution: Maintained flat selector hierarchies using reusable BEM-inspired class selectors, completely avoiding deep nested element selectors and !important overrides.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Challenge 2: Unintended Horizontal Overflow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Solution: Diagnosed root causes using DevTools outline scripts, applied max-width: 100% constraints on media, and set overflow-x: clip.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Challenge 3: Breakpoint Proliferation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Solution: Shifted from device-specific media queries to content-driven breakpoints and intrinsic CSS Grid repeat(auto-fit, minmax(...)) patterns.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JSS Academy of Technical Education, Noida  |  Dept. of IT  |  Anurag Kumar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 of 18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Scope &amp; Front-End Engineering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07008"/>
            <a:ext cx="1645920" cy="36576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256032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1: Dynamic Interactivity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&amp; Web APIs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2194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Mastering modern ES6+ features, asynchronous Fetch API for dynamic backend integration, DOM event handling, and local client storage.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9000" y="1463040"/>
            <a:ext cx="256032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6916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2: Component Architecture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0" y="1965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&amp; TypeScript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2560320"/>
            <a:ext cx="2194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Transitioning from static pages to scalable component architectures, state management, strict type safety, and modern build tooling (Vite).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56032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6916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3: Next-Gen CSS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09360" y="1965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 Queries &amp; Subgrid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560320"/>
            <a:ext cx="2194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Leveraging CSS @container queries for component-level responsiveness independent of viewport size, native CSS nesting, and CSS subgrid.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823960" y="1463040"/>
            <a:ext cx="256032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16916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4: Web Performance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06840" y="1965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Web Vitals &amp; CI/CD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06840" y="2560320"/>
            <a:ext cx="2194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Optimizing Largest Contentful Paint (LCP), Cumulative Layout Shift (CLS), automated accessibility regression testing, and CI/CD pipelines.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JSS Academy of Technical Education, Noida  |  Dept. of IT  |  Anurag Kumar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 of 18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 &amp; Formal Academic References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07008"/>
            <a:ext cx="1645920" cy="36576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5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&amp; Professional Conclusion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300 Hours Completed: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completion of the Legacy Responsive Web Design V8 curriculum represents approximately 300 hours of intensive study, design, and coding.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Core Achievement: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Bridged theoretical computer science concepts with modern front-end web engineering, creating interfaces that are universally readable, accessible, and performant.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Academic Fulfillment: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in partial fulfilment of academic documentation requirements for Bachelor of Technology in Information Technology, JSS Academy of Technical Education, Noida.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Formal Standards &amp; References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10312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 freeCodeCamp.org: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Legacy Responsive Web Design V8 Developer Certification. Completed 14 October 2026.
URL: freecodecamp.org/certification/fcc-97775e43-3a55-46e0-aa41-90a285370607/responsive-web-design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 WHATWG: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Living Standard — html.spec.whatwg.org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 W3C: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Cascading Style Sheets (CSS) Specifications — w3.org/Style/CSS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[4] W3C Web Accessibility Initiative (WAI):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Content Accessibility Guidelines (WCAG) 2.2 — w3.org/TR/WCAG22
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[5] MDN Web Docs: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Mozilla Developer Network Guides on Responsive Design, CSS Flexbox &amp; CSS Grid.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JSS Academy of Technical Education, Noida  |  Dept. of IT  |  Anurag Kumar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 of 18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Legacy Responsive Web Design V8 — Certification Presentation</dc:title>
  <dc:subject>freeCodeCamp Developer Certification Presentation</dc:subject>
  <dc:creator>Anurag Kumar (JSS Academy of Technical Education, Noida)</dc:creator>
  <cp:lastModifiedBy>Anurag Kumar (JSS Academy of Technical Education, Noida)</cp:lastModifiedBy>
  <cp:revision>1</cp:revision>
  <dcterms:created xsi:type="dcterms:W3CDTF">2026-10-15T05:16:01Z</dcterms:created>
  <dcterms:modified xsi:type="dcterms:W3CDTF">2026-10-15T05:16:01Z</dcterms:modified>
</cp:coreProperties>
</file>